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d3eb59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d3eb5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8d3eb592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8d3eb59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8d3eb59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8d3eb59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8d3eb592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8d3eb592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8d3eb592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8d3eb592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d3eb59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8d3eb59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d3eb592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8d3eb592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8d3eb592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8d3eb592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fc7d53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8fc7d53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Géolocalisation Indoor sans GPS via WiFi Sniffing &amp; LoRaWAN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Projet IoT - Polytech Sorbonne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Objectifs &amp; Périmètre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zh-CN" sz="2000">
                <a:solidFill>
                  <a:schemeClr val="dk1"/>
                </a:solidFill>
              </a:rPr>
              <a:t>Objectif</a:t>
            </a:r>
            <a:r>
              <a:rPr lang="zh-CN" sz="2000">
                <a:solidFill>
                  <a:schemeClr val="dk1"/>
                </a:solidFill>
              </a:rPr>
              <a:t>: Localiser un nœud IoT en intérieur sans GPS.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zh-CN" sz="2000">
                <a:solidFill>
                  <a:schemeClr val="dk1"/>
                </a:solidFill>
              </a:rPr>
              <a:t>Moyens</a:t>
            </a:r>
            <a:r>
              <a:rPr lang="zh-C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zh-CN" sz="2000">
                <a:solidFill>
                  <a:schemeClr val="dk1"/>
                </a:solidFill>
              </a:rPr>
              <a:t>WiFi Sniffing</a:t>
            </a:r>
            <a:r>
              <a:rPr lang="zh-CN" sz="2000">
                <a:solidFill>
                  <a:schemeClr val="dk1"/>
                </a:solidFill>
              </a:rPr>
              <a:t>: Utilisation des RSSI des AP environnants.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zh-CN" sz="2000">
                <a:solidFill>
                  <a:schemeClr val="dk1"/>
                </a:solidFill>
              </a:rPr>
              <a:t>LoRaWAN</a:t>
            </a:r>
            <a:r>
              <a:rPr lang="zh-CN" sz="2000">
                <a:solidFill>
                  <a:schemeClr val="dk1"/>
                </a:solidFill>
              </a:rPr>
              <a:t>: Transmission basse consommation (Low Power).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zh-CN" sz="2000">
                <a:solidFill>
                  <a:schemeClr val="dk1"/>
                </a:solidFill>
              </a:rPr>
              <a:t>Approche Spécifique</a:t>
            </a:r>
            <a:r>
              <a:rPr lang="zh-C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zh-CN" sz="2000">
                <a:solidFill>
                  <a:schemeClr val="dk1"/>
                </a:solidFill>
              </a:rPr>
              <a:t>"All-in-One" Architecture</a:t>
            </a:r>
            <a:r>
              <a:rPr lang="zh-CN" sz="2000">
                <a:solidFill>
                  <a:schemeClr val="dk1"/>
                </a:solidFill>
              </a:rPr>
              <a:t>: Traitement, Stockage et Visualisation </a:t>
            </a:r>
            <a:r>
              <a:rPr b="1" lang="zh-CN" sz="2000">
                <a:solidFill>
                  <a:schemeClr val="dk1"/>
                </a:solidFill>
              </a:rPr>
              <a:t>100% dans Node-RED</a:t>
            </a:r>
            <a:r>
              <a:rPr lang="zh-C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zh-CN" sz="2000">
                <a:solidFill>
                  <a:schemeClr val="dk1"/>
                </a:solidFill>
              </a:rPr>
              <a:t>Avantage</a:t>
            </a:r>
            <a:r>
              <a:rPr lang="zh-CN" sz="2000">
                <a:solidFill>
                  <a:schemeClr val="dk1"/>
                </a:solidFill>
              </a:rPr>
              <a:t>: Réduction de la latence, déploiement simplifié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Architecture Globale 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13913"/>
            <a:ext cx="3203749" cy="45156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19725" y="1514000"/>
            <a:ext cx="3912300" cy="3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500">
                <a:solidFill>
                  <a:schemeClr val="dk1"/>
                </a:solidFill>
              </a:rPr>
              <a:t>Capteur</a:t>
            </a:r>
            <a:r>
              <a:rPr lang="zh-CN" sz="1500">
                <a:solidFill>
                  <a:schemeClr val="dk1"/>
                </a:solidFill>
              </a:rPr>
              <a:t>: ESP32 + LoRa E5 (Scan &amp; Send).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500">
                <a:solidFill>
                  <a:schemeClr val="dk1"/>
                </a:solidFill>
              </a:rPr>
              <a:t>Transport</a:t>
            </a:r>
            <a:r>
              <a:rPr lang="zh-CN" sz="1500">
                <a:solidFill>
                  <a:schemeClr val="dk1"/>
                </a:solidFill>
              </a:rPr>
              <a:t>: Gateway -&gt;TTN (The Things Network).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500">
                <a:solidFill>
                  <a:schemeClr val="dk1"/>
                </a:solidFill>
              </a:rPr>
              <a:t>Orchestration (Node-RED)</a:t>
            </a:r>
            <a:r>
              <a:rPr lang="zh-C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CN" sz="1500">
                <a:solidFill>
                  <a:schemeClr val="dk1"/>
                </a:solidFill>
              </a:rPr>
              <a:t>Input</a:t>
            </a:r>
            <a:r>
              <a:rPr lang="zh-CN" sz="1500">
                <a:solidFill>
                  <a:schemeClr val="dk1"/>
                </a:solidFill>
              </a:rPr>
              <a:t>: MQTT (JSON).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CN" sz="1500">
                <a:solidFill>
                  <a:schemeClr val="dk1"/>
                </a:solidFill>
              </a:rPr>
              <a:t>Storage</a:t>
            </a:r>
            <a:r>
              <a:rPr lang="zh-CN" sz="1500">
                <a:solidFill>
                  <a:schemeClr val="dk1"/>
                </a:solidFill>
              </a:rPr>
              <a:t>: SQLite Node (Gestion locale des AP).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CN" sz="1500">
                <a:solidFill>
                  <a:schemeClr val="dk1"/>
                </a:solidFill>
              </a:rPr>
              <a:t>Compute</a:t>
            </a:r>
            <a:r>
              <a:rPr lang="zh-CN" sz="1500">
                <a:solidFill>
                  <a:schemeClr val="dk1"/>
                </a:solidFill>
              </a:rPr>
              <a:t>: Function Node (Calcul JavaScript).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CN" sz="1500">
                <a:solidFill>
                  <a:schemeClr val="dk1"/>
                </a:solidFill>
              </a:rPr>
              <a:t>UI</a:t>
            </a:r>
            <a:r>
              <a:rPr lang="zh-CN" sz="1500">
                <a:solidFill>
                  <a:schemeClr val="dk1"/>
                </a:solidFill>
              </a:rPr>
              <a:t>: Worldmap.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Côté Embarqué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100">
                <a:solidFill>
                  <a:schemeClr val="dk1"/>
                </a:solidFill>
              </a:rPr>
              <a:t>Matériel</a:t>
            </a:r>
            <a:r>
              <a:rPr lang="zh-CN" sz="2100">
                <a:solidFill>
                  <a:schemeClr val="dk1"/>
                </a:solidFill>
              </a:rPr>
              <a:t>: ESP32 + Unit LoRa E5.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100">
                <a:solidFill>
                  <a:schemeClr val="dk1"/>
                </a:solidFill>
              </a:rPr>
              <a:t>Stratégie de Données (Payload)</a:t>
            </a:r>
            <a:r>
              <a:rPr lang="zh-CN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CN" sz="2100">
                <a:solidFill>
                  <a:schemeClr val="dk1"/>
                </a:solidFill>
              </a:rPr>
              <a:t>Nous transmettons les trois </a:t>
            </a:r>
            <a:r>
              <a:rPr b="1" lang="zh-CN" sz="2100">
                <a:solidFill>
                  <a:schemeClr val="dk1"/>
                </a:solidFill>
              </a:rPr>
              <a:t>AP</a:t>
            </a:r>
            <a:r>
              <a:rPr lang="zh-CN" sz="2100">
                <a:solidFill>
                  <a:schemeClr val="dk1"/>
                </a:solidFill>
              </a:rPr>
              <a:t> avec le </a:t>
            </a:r>
            <a:r>
              <a:rPr b="1" lang="zh-CN" sz="2100">
                <a:solidFill>
                  <a:schemeClr val="dk1"/>
                </a:solidFill>
              </a:rPr>
              <a:t>RSSI le plus puissant</a:t>
            </a:r>
            <a:r>
              <a:rPr lang="zh-C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CN" sz="2100">
                <a:solidFill>
                  <a:schemeClr val="dk1"/>
                </a:solidFill>
              </a:rPr>
              <a:t>Format: </a:t>
            </a:r>
            <a:r>
              <a:rPr lang="zh-C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[MAC1, RSSI1, MAC2, RSSI2, MAC3, RSSI3]</a:t>
            </a:r>
            <a:r>
              <a:rPr lang="zh-C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100">
                <a:solidFill>
                  <a:schemeClr val="dk1"/>
                </a:solidFill>
              </a:rPr>
              <a:t>Code</a:t>
            </a:r>
            <a:r>
              <a:rPr lang="zh-CN" sz="2100">
                <a:solidFill>
                  <a:schemeClr val="dk1"/>
                </a:solidFill>
              </a:rPr>
              <a:t>: Écrit en Arduino, contrôle du module LoRa via des commandes AT.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Algorithme &amp; Traitement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</a:t>
            </a:r>
            <a:r>
              <a:rPr lang="zh-CN"/>
              <a:t>lgorithme 1: Barycentre Pondéré (Weighted Centroid)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300">
                <a:solidFill>
                  <a:schemeClr val="dk1"/>
                </a:solidFill>
              </a:rPr>
              <a:t>Pondération (Weighting)</a:t>
            </a:r>
            <a:r>
              <a:rPr lang="zh-CN" sz="2300">
                <a:solidFill>
                  <a:schemeClr val="dk1"/>
                </a:solidFill>
              </a:rPr>
              <a:t>:</a:t>
            </a:r>
            <a:br>
              <a:rPr lang="zh-CN" sz="2300">
                <a:solidFill>
                  <a:schemeClr val="dk1"/>
                </a:solidFill>
              </a:rPr>
            </a:br>
            <a:r>
              <a:rPr lang="zh-CN" sz="2300">
                <a:solidFill>
                  <a:schemeClr val="dk1"/>
                </a:solidFill>
              </a:rPr>
              <a:t>Nous avons défini un poids $W$ basé sur le RSSI :</a:t>
            </a:r>
            <a:br>
              <a:rPr lang="zh-CN" sz="2300">
                <a:solidFill>
                  <a:schemeClr val="dk1"/>
                </a:solidFill>
              </a:rPr>
            </a:br>
            <a:r>
              <a:rPr lang="zh-CN" sz="2300">
                <a:solidFill>
                  <a:schemeClr val="dk1"/>
                </a:solidFill>
              </a:rPr>
              <a:t>					W = (RSSI + 100)^2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chemeClr val="dk1"/>
                </a:solidFill>
              </a:rPr>
              <a:t>Calcul de la position:</a:t>
            </a:r>
            <a:br>
              <a:rPr lang="zh-CN" sz="2300">
                <a:solidFill>
                  <a:schemeClr val="dk1"/>
                </a:solidFill>
              </a:rPr>
            </a:br>
            <a:r>
              <a:rPr lang="zh-CN" sz="2300">
                <a:solidFill>
                  <a:schemeClr val="dk1"/>
                </a:solidFill>
              </a:rPr>
              <a:t>			Lat_user= sum (Lat_AP* W)/sum(W)</a:t>
            </a:r>
            <a:endParaRPr sz="23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300">
                <a:solidFill>
                  <a:schemeClr val="dk1"/>
                </a:solidFill>
              </a:rPr>
              <a:t>Lon_user = sum (Lon_AP *W)/sum(W)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CN"/>
              <a:t>Algorithme &amp; Traitement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Algorithme 2: triangulation géométrique simple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Étape 1 : Modèle de propagation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Étape 2 : Système d'équations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CN">
                <a:solidFill>
                  <a:schemeClr val="dk1"/>
                </a:solidFill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425" y="1984850"/>
            <a:ext cx="2494373" cy="6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51" y="3065800"/>
            <a:ext cx="4975974" cy="13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425150" y="39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Demo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1, Arduino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888" y="494438"/>
            <a:ext cx="5475125" cy="415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Demo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2, TTN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75" y="1152463"/>
            <a:ext cx="6429374" cy="373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Demo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3, N</a:t>
            </a:r>
            <a:r>
              <a:rPr lang="zh-CN"/>
              <a:t>ode red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025" y="505425"/>
            <a:ext cx="6960276" cy="413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Demo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4,Worldmap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875" y="1217748"/>
            <a:ext cx="6919424" cy="36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